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6" r:id="rId8"/>
    <p:sldId id="262" r:id="rId9"/>
    <p:sldId id="268" r:id="rId10"/>
    <p:sldId id="263" r:id="rId11"/>
    <p:sldId id="267" r:id="rId12"/>
    <p:sldId id="264" r:id="rId13"/>
    <p:sldId id="265" r:id="rId14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294" autoAdjust="0"/>
    <p:restoredTop sz="94610"/>
  </p:normalViewPr>
  <p:slideViewPr>
    <p:cSldViewPr snapToGrid="0" snapToObjects="1">
      <p:cViewPr varScale="1">
        <p:scale>
          <a:sx n="69" d="100"/>
          <a:sy n="69" d="100"/>
        </p:scale>
        <p:origin x="600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647659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10C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41631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436376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Digit Recognition Using Neural Networks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19409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93790" y="481214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Presented By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43020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24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K Chaitra Latha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47256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Introduction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26578" y="2328621"/>
            <a:ext cx="12777244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This presentation explores neural networks and how they classify handwritten digits.</a:t>
            </a: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goal is to recognize digits despite variations in handwriting.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b="1" dirty="0">
              <a:solidFill>
                <a:srgbClr val="F94CAF"/>
              </a:solidFill>
              <a:latin typeface="Times New Roman" panose="02020603050405020304" pitchFamily="18" charset="0"/>
              <a:ea typeface="Inconsolata Bold" pitchFamily="34" charset="-122"/>
              <a:cs typeface="Times New Roman" panose="02020603050405020304" pitchFamily="18" charset="0"/>
            </a:endParaRP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Objective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2850"/>
              </a:lnSpc>
              <a:buNone/>
            </a:pPr>
            <a:r>
              <a:rPr lang="en-US" alt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Design a system that uses neural networks to classify handwritten digits.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E824BAA-DC72-C075-D5A4-23E4D5D8B8AF}"/>
              </a:ext>
            </a:extLst>
          </p:cNvPr>
          <p:cNvSpPr/>
          <p:nvPr/>
        </p:nvSpPr>
        <p:spPr>
          <a:xfrm>
            <a:off x="12935415" y="7761249"/>
            <a:ext cx="1594624" cy="2787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Methodology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49103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417439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Preprocessing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417439" y="3981450"/>
            <a:ext cx="30412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Normalize pixel values and flatten images.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4685467" y="3491032"/>
            <a:ext cx="396835" cy="396835"/>
          </a:xfrm>
          <a:prstGeom prst="roundRect">
            <a:avLst>
              <a:gd name="adj" fmla="val 8574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09116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Building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09116" y="3981450"/>
            <a:ext cx="304121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Design and train a neural network.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793790" y="5189220"/>
            <a:ext cx="396835" cy="396835"/>
          </a:xfrm>
          <a:prstGeom prst="roundRect">
            <a:avLst>
              <a:gd name="adj" fmla="val 8574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417439" y="5189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Evaluating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1417439" y="5679638"/>
            <a:ext cx="69327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Measure accuracy and loss on test data.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721412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Data Preprocessing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Normalization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578310"/>
            <a:ext cx="397811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Scale pixel values to range [0, 1].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5332928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Flattening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5332928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Convert 28×28 images to 784-dimensional vectors.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9872067" y="39971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Splitting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9872067" y="4578310"/>
            <a:ext cx="3978116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Divide data into training and testing sets.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8F16C5B-E7F4-FA49-1F5B-84CC324884AB}"/>
              </a:ext>
            </a:extLst>
          </p:cNvPr>
          <p:cNvSpPr/>
          <p:nvPr/>
        </p:nvSpPr>
        <p:spPr>
          <a:xfrm>
            <a:off x="12935415" y="7761249"/>
            <a:ext cx="1594624" cy="2787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16499"/>
            <a:ext cx="765417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Neural Network Architecture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678906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83474" y="3267551"/>
            <a:ext cx="14180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1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357217" y="2905720"/>
            <a:ext cx="21199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Input Layer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5357217" y="3396139"/>
            <a:ext cx="211990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Flattened 784 nodes.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5187077" y="3998952"/>
            <a:ext cx="8592860" cy="15240"/>
          </a:xfrm>
          <a:prstGeom prst="roundRect">
            <a:avLst>
              <a:gd name="adj" fmla="val 223256"/>
            </a:avLst>
          </a:prstGeom>
          <a:solidFill>
            <a:srgbClr val="5C4E69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4042529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983474" y="4469249"/>
            <a:ext cx="14180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2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6"/>
          <p:cNvSpPr/>
          <p:nvPr/>
        </p:nvSpPr>
        <p:spPr>
          <a:xfrm>
            <a:off x="6433304" y="4269343"/>
            <a:ext cx="280475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Hidden Layer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7"/>
          <p:cNvSpPr/>
          <p:nvPr/>
        </p:nvSpPr>
        <p:spPr>
          <a:xfrm>
            <a:off x="6433304" y="4759762"/>
            <a:ext cx="280475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>
              <a:lnSpc>
                <a:spcPts val="2850"/>
              </a:lnSpc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100 nodes, </a:t>
            </a:r>
            <a:r>
              <a:rPr lang="en-US" sz="1750" dirty="0" err="1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ReLU</a:t>
            </a: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(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Rectified Linear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Unit)</a:t>
            </a: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 activation.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8"/>
          <p:cNvSpPr/>
          <p:nvPr/>
        </p:nvSpPr>
        <p:spPr>
          <a:xfrm>
            <a:off x="6263164" y="5362575"/>
            <a:ext cx="7516773" cy="15240"/>
          </a:xfrm>
          <a:prstGeom prst="roundRect">
            <a:avLst>
              <a:gd name="adj" fmla="val 223256"/>
            </a:avLst>
          </a:prstGeom>
          <a:solidFill>
            <a:srgbClr val="5C4E69"/>
          </a:solidFill>
          <a:ln/>
        </p:spPr>
        <p:txBody>
          <a:bodyPr/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406152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983355" y="5832872"/>
            <a:ext cx="141803" cy="453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5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3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0"/>
          <p:cNvSpPr/>
          <p:nvPr/>
        </p:nvSpPr>
        <p:spPr>
          <a:xfrm>
            <a:off x="7509272" y="563296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Output Layer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1"/>
          <p:cNvSpPr/>
          <p:nvPr/>
        </p:nvSpPr>
        <p:spPr>
          <a:xfrm>
            <a:off x="7509272" y="6123384"/>
            <a:ext cx="289631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10 nodes, one for each digit.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A6749FC-1DB4-D2FC-2504-A44C23E56D28}"/>
              </a:ext>
            </a:extLst>
          </p:cNvPr>
          <p:cNvSpPr/>
          <p:nvPr/>
        </p:nvSpPr>
        <p:spPr>
          <a:xfrm>
            <a:off x="12935415" y="7761249"/>
            <a:ext cx="1594624" cy="2787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90286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Training the Model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Simple Model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793790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5 epochs, 92.6% accuracy.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7599521" y="41786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Improved Model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10 epochs, 97.7% accuracy.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9DE4FE8-C113-90A3-B1A8-C63807EE7CE9}"/>
              </a:ext>
            </a:extLst>
          </p:cNvPr>
          <p:cNvSpPr/>
          <p:nvPr/>
        </p:nvSpPr>
        <p:spPr>
          <a:xfrm>
            <a:off x="12935415" y="7761249"/>
            <a:ext cx="1594624" cy="2787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screenshot of a computer&#10;&#10;Description automatically generated">
            <a:extLst>
              <a:ext uri="{FF2B5EF4-FFF2-40B4-BE49-F238E27FC236}">
                <a16:creationId xmlns:a16="http://schemas.microsoft.com/office/drawing/2014/main" id="{7D2D29C9-011F-01AD-63CE-2E63807A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1540" t="23306" r="33132" b="26965"/>
          <a:stretch/>
        </p:blipFill>
        <p:spPr>
          <a:xfrm>
            <a:off x="1460810" y="1081668"/>
            <a:ext cx="10236821" cy="701411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FD3E9A0-98FC-8A1A-3639-1BAAE75814E3}"/>
              </a:ext>
            </a:extLst>
          </p:cNvPr>
          <p:cNvSpPr txBox="1"/>
          <p:nvPr/>
        </p:nvSpPr>
        <p:spPr>
          <a:xfrm>
            <a:off x="512956" y="156117"/>
            <a:ext cx="7315200" cy="7030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24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Comparison of paper and Implemented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17AEA58-A135-6A63-AFBB-B00E4ED29AC9}"/>
              </a:ext>
            </a:extLst>
          </p:cNvPr>
          <p:cNvSpPr/>
          <p:nvPr/>
        </p:nvSpPr>
        <p:spPr>
          <a:xfrm>
            <a:off x="12935415" y="7761249"/>
            <a:ext cx="1594624" cy="2787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82708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585323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Results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3634264"/>
            <a:ext cx="566976" cy="566976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93790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Accuracy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2"/>
          <p:cNvSpPr/>
          <p:nvPr/>
        </p:nvSpPr>
        <p:spPr>
          <a:xfrm>
            <a:off x="793790" y="4918472"/>
            <a:ext cx="3608070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Plot comparing training and validation accuracy.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2021" y="3634264"/>
            <a:ext cx="566976" cy="56697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42021" y="44280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Confusion Matrix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4"/>
          <p:cNvSpPr/>
          <p:nvPr/>
        </p:nvSpPr>
        <p:spPr>
          <a:xfrm>
            <a:off x="4742021" y="4918472"/>
            <a:ext cx="3608189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Visualization of true vs. predicted values.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76467E-D474-C043-7862-CA14627E1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073" y="156117"/>
            <a:ext cx="13704849" cy="796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6813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86940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Key Insights</a:t>
            </a:r>
            <a:endParaRPr lang="en-US" sz="4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793790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963811" y="3576042"/>
            <a:ext cx="17014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1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1530906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Hidden Layers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1530906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Improved model performance.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685467" y="3491032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4855488" y="3576042"/>
            <a:ext cx="17014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422583" y="34910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 err="1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ReLU</a:t>
            </a:r>
            <a:r>
              <a:rPr lang="en-US" sz="24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(</a:t>
            </a:r>
            <a:r>
              <a:rPr lang="en-IN" sz="2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Rectified Linear Unit</a:t>
            </a:r>
            <a:r>
              <a:rPr lang="en-IN" sz="2400" dirty="0">
                <a:solidFill>
                  <a:schemeClr val="bg1"/>
                </a:solidFill>
              </a:rPr>
              <a:t>)</a:t>
            </a:r>
            <a:endParaRPr lang="en-US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422583" y="3981450"/>
            <a:ext cx="2927747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Enhanced learning capability.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793790" y="5189220"/>
            <a:ext cx="510302" cy="510302"/>
          </a:xfrm>
          <a:prstGeom prst="roundRect">
            <a:avLst>
              <a:gd name="adj" fmla="val 6667"/>
            </a:avLst>
          </a:prstGeom>
          <a:solidFill>
            <a:srgbClr val="433550"/>
          </a:solidFill>
          <a:ln/>
        </p:spPr>
        <p:txBody>
          <a:bodyPr/>
          <a:lstStyle/>
          <a:p>
            <a:endParaRPr lang="en-IN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963811" y="5274231"/>
            <a:ext cx="170140" cy="3402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650"/>
              </a:lnSpc>
              <a:buNone/>
            </a:pPr>
            <a:r>
              <a:rPr lang="en-US" sz="28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3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530906" y="518922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750"/>
              </a:lnSpc>
              <a:buNone/>
            </a:pPr>
            <a:r>
              <a:rPr lang="en-US" sz="2400" b="1" dirty="0">
                <a:solidFill>
                  <a:srgbClr val="DAD1E6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Optimizer &amp; Loss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1530906" y="5679638"/>
            <a:ext cx="681930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Critical for convergence.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DD7F4E-CD98-BA55-0094-FBD19175266A}"/>
              </a:ext>
            </a:extLst>
          </p:cNvPr>
          <p:cNvSpPr txBox="1"/>
          <p:nvPr/>
        </p:nvSpPr>
        <p:spPr>
          <a:xfrm>
            <a:off x="1159725" y="1809159"/>
            <a:ext cx="1217713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Training Accuracy: The Flatten Input with Two Dense Layers from the coding process closely matches the paper’s result of 98.68%.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 Accuracy: The Flatten Input with Two Dense Layers achieves a test accuracy of 97.79%, which is close to the paper’s 97.81%.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Loss: The coding process models show consistent improvements in both training and test loss, with the Flatten Input with Two Dense Layers model achieving comparable results to the paper.</a:t>
            </a:r>
          </a:p>
          <a:p>
            <a:endParaRPr lang="en-US" sz="2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Execution Time: The coding process models train faster than the paper's implementation, likely due to differences in architecture or computational resources.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DAEE2FE-CCDC-F2F2-4EDF-EF18CAFC4E96}"/>
              </a:ext>
            </a:extLst>
          </p:cNvPr>
          <p:cNvSpPr txBox="1"/>
          <p:nvPr/>
        </p:nvSpPr>
        <p:spPr>
          <a:xfrm>
            <a:off x="713678" y="706381"/>
            <a:ext cx="7315200" cy="727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lnSpc>
                <a:spcPts val="5550"/>
              </a:lnSpc>
              <a:buNone/>
            </a:pPr>
            <a:r>
              <a:rPr lang="en-US" sz="280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Key Observations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8EA933-623A-A8DE-5C60-2D90185B3B9A}"/>
              </a:ext>
            </a:extLst>
          </p:cNvPr>
          <p:cNvSpPr/>
          <p:nvPr/>
        </p:nvSpPr>
        <p:spPr>
          <a:xfrm>
            <a:off x="12879659" y="7761249"/>
            <a:ext cx="1594624" cy="2787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6259889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2278" y="1174424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94CAF"/>
                </a:solidFill>
                <a:latin typeface="Times New Roman" panose="02020603050405020304" pitchFamily="18" charset="0"/>
                <a:ea typeface="Inconsolata Bold" pitchFamily="34" charset="-122"/>
                <a:cs typeface="Times New Roman" panose="02020603050405020304" pitchFamily="18" charset="0"/>
              </a:rPr>
              <a:t>Conclusion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986906" y="2029522"/>
            <a:ext cx="12087948" cy="4836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just">
              <a:lnSpc>
                <a:spcPts val="2850"/>
              </a:lnSpc>
              <a:buNone/>
            </a:pP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The exploration of neural networks for digit recognition highlights their capability to effectively classify handwritten</a:t>
            </a:r>
          </a:p>
          <a:p>
            <a:pPr marL="0" indent="0" algn="just">
              <a:lnSpc>
                <a:spcPts val="2850"/>
              </a:lnSpc>
              <a:buNone/>
            </a:pP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 digits, even with variations in handwriting. Through careful preprocessing, architecture design, and training </a:t>
            </a:r>
          </a:p>
          <a:p>
            <a:pPr marL="0" indent="0" algn="just">
              <a:lnSpc>
                <a:spcPts val="2850"/>
              </a:lnSpc>
              <a:buNone/>
            </a:pP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optimization, we achieved significant accuracy improvements</a:t>
            </a:r>
          </a:p>
          <a:p>
            <a:pPr marL="0" indent="0" algn="just">
              <a:lnSpc>
                <a:spcPts val="2850"/>
              </a:lnSpc>
              <a:buNone/>
            </a:pPr>
            <a:endParaRPr lang="en-US" sz="2000" dirty="0">
              <a:solidFill>
                <a:srgbClr val="DAD1E6"/>
              </a:solidFill>
              <a:latin typeface="Times New Roman" panose="02020603050405020304" pitchFamily="18" charset="0"/>
              <a:ea typeface="Fira Sans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2850"/>
              </a:lnSpc>
              <a:buNone/>
            </a:pPr>
            <a:endParaRPr lang="en-US" sz="2000" dirty="0">
              <a:solidFill>
                <a:srgbClr val="DAD1E6"/>
              </a:solidFill>
              <a:latin typeface="Times New Roman" panose="02020603050405020304" pitchFamily="18" charset="0"/>
              <a:ea typeface="Fira Sans" pitchFamily="34" charset="-122"/>
              <a:cs typeface="Times New Roman" panose="02020603050405020304" pitchFamily="18" charset="0"/>
            </a:endParaRPr>
          </a:p>
          <a:p>
            <a:pPr marL="0" indent="0" algn="just">
              <a:lnSpc>
                <a:spcPts val="2850"/>
              </a:lnSpc>
              <a:buNone/>
            </a:pP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Key takeaways include:</a:t>
            </a:r>
          </a:p>
          <a:p>
            <a:pPr marL="342900" indent="-342900" algn="just">
              <a:lnSpc>
                <a:spcPts val="285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The importance of data normalization and splitting for model performance.</a:t>
            </a:r>
          </a:p>
          <a:p>
            <a:pPr marL="342900" indent="-342900" algn="just">
              <a:lnSpc>
                <a:spcPts val="285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The impact of hidden layers and activation functions, such as </a:t>
            </a:r>
            <a:r>
              <a:rPr lang="en-US" sz="2000" dirty="0" err="1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ReLU</a:t>
            </a: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, on enhancing learning efficiency.</a:t>
            </a:r>
          </a:p>
          <a:p>
            <a:pPr marL="342900" indent="-342900" algn="just">
              <a:lnSpc>
                <a:spcPts val="2850"/>
              </a:lnSpc>
              <a:buFont typeface="+mj-lt"/>
              <a:buAutoNum type="arabicPeriod"/>
            </a:pPr>
            <a:r>
              <a:rPr lang="en-US" sz="2000" dirty="0">
                <a:solidFill>
                  <a:srgbClr val="DAD1E6"/>
                </a:solidFill>
                <a:latin typeface="Times New Roman" panose="02020603050405020304" pitchFamily="18" charset="0"/>
                <a:ea typeface="Fira Sans" pitchFamily="34" charset="-122"/>
                <a:cs typeface="Times New Roman" panose="02020603050405020304" pitchFamily="18" charset="0"/>
              </a:rPr>
              <a:t>The critical role of optimizers and loss functions in achieving convergence and accuracy.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7599521" y="475976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D80B524-A595-4634-053A-1C32B51E9132}"/>
              </a:ext>
            </a:extLst>
          </p:cNvPr>
          <p:cNvSpPr/>
          <p:nvPr/>
        </p:nvSpPr>
        <p:spPr>
          <a:xfrm>
            <a:off x="12935415" y="7761249"/>
            <a:ext cx="1594624" cy="27878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mputer screen shot of a hand writing on a piece of paper&#10;&#10;Description automatically generated">
            <a:extLst>
              <a:ext uri="{FF2B5EF4-FFF2-40B4-BE49-F238E27FC236}">
                <a16:creationId xmlns:a16="http://schemas.microsoft.com/office/drawing/2014/main" id="{05388908-2846-8354-89AC-468A93B0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4634" t="17615" r="9451" b="16937"/>
          <a:stretch/>
        </p:blipFill>
        <p:spPr>
          <a:xfrm>
            <a:off x="0" y="0"/>
            <a:ext cx="14630400" cy="8229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77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205</TotalTime>
  <Words>414</Words>
  <Application>Microsoft Office PowerPoint</Application>
  <PresentationFormat>Custom</PresentationFormat>
  <Paragraphs>83</Paragraphs>
  <Slides>13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Times New Roman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chaitra latha</cp:lastModifiedBy>
  <cp:revision>23</cp:revision>
  <dcterms:created xsi:type="dcterms:W3CDTF">2024-12-30T04:47:56Z</dcterms:created>
  <dcterms:modified xsi:type="dcterms:W3CDTF">2026-02-27T10:11:28Z</dcterms:modified>
</cp:coreProperties>
</file>